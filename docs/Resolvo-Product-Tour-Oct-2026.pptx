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b4175d5c-cd3a-65b7-76d4-f420a0126413}">
          <p14:sldIdLst>
            <p14:sldId id="256"/>
          </p14:sldIdLst>
        </p14:section>
        <p14:section name="What it fixes" id="{cba101a7-db91-d2ab-5ad4-563ff26c34a2}">
          <p14:sldIdLst>
            <p14:sldId id="257"/>
          </p14:sldIdLst>
        </p14:section>
        <p14:section name="How it works" id="{b0ba759e-4794-8d92-6745-de238e5388cd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Plans" id="{0deb8483-5f95-5d79-634e-37add2ae54d0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problem in one sentence: small teams answer customers from three places and lose track. This tour is four minutes. Everything shown comes from a made-up store called Brightkart.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three things we hear from founders and small teams. The rest of the deck shows how each is handled.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Needs you now to show the list. The count at the top equals the inbox count, which is deliberate.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default on phones. If a send fails, the text stays and nothing is resolved.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Nothing is deleted and nobody is emailed when you close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sentences are generated from the numbers, so they are always current.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Merging keeps every address, ticket and deal. Settings opens on a list of what needs attention, such as email not connected.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iPhone, add it to the Home Screen first; alerts need the installed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Pricing is per brand, so adding agents costs nothing extra. Always check the pricing page for the latest.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the demo. It needs no signup and uses made-up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UR_DARK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640080"/>
            <a:ext cx="512064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UR_LIGHT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51206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UR_LIGHT_WIDE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app.resolvogroup.com/demo" TargetMode="External"/><Relationship Id="rId2" Type="http://schemas.openxmlformats.org/officeDocument/2006/relationships/image" Target="../media/image-1-1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app.resolvogroup.com/demo" TargetMode="External"/><Relationship Id="rId2" Type="http://schemas.openxmlformats.org/officeDocument/2006/relationships/hyperlink" Target="https://app.resolvogroup.com/signup" TargetMode="External"/><Relationship Id="rId3" Type="http://schemas.openxmlformats.org/officeDocument/2006/relationships/hyperlink" Target="mailto:contact@resolvogroup.com" TargetMode="External"/><Relationship Id="rId4" Type="http://schemas.openxmlformats.org/officeDocument/2006/relationships/image" Target="../media/image-10-1.jp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411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4D399"/>
                </a:solidFill>
              </a:rPr>
              <a:t>PRODUCT TOUR · OCTOBER 2026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64008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Support that stays calm</a:t>
            </a:r>
            <a:endParaRPr lang="en-US" sz="4000" dirty="0"/>
          </a:p>
        </p:txBody>
      </p:sp>
      <p:sp>
        <p:nvSpPr>
          <p:cNvPr id="4" name="Subtitle"/>
          <p:cNvSpPr txBox="1"/>
          <p:nvPr/>
        </p:nvSpPr>
        <p:spPr>
          <a:xfrm>
            <a:off x="640080" y="246888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One shared inbox for email, WhatsApp and your website. See what needs you, answer it, move on.</a:t>
            </a:r>
            <a:endParaRPr lang="en-US" sz="1800" dirty="0"/>
          </a:p>
        </p:txBody>
      </p:sp>
      <p:sp>
        <p:nvSpPr>
          <p:cNvPr id="5" name="Button"/>
          <p:cNvSpPr/>
          <p:nvPr/>
        </p:nvSpPr>
        <p:spPr>
          <a:xfrm>
            <a:off x="640080" y="4297680"/>
            <a:ext cx="3108960" cy="566928"/>
          </a:xfrm>
          <a:prstGeom prst="roundRect">
            <a:avLst>
              <a:gd name="adj" fmla="val 19355"/>
            </a:avLst>
          </a:prstGeom>
          <a:solidFill>
            <a:schemeClr val="accent1"/>
          </a:solidFill>
          <a:ln/>
        </p:spPr>
      </p:sp>
      <p:sp>
        <p:nvSpPr>
          <p:cNvPr id="6" name="Button label">
            <a:hlinkClick r:id="rId1" tooltip=""/>
          </p:cNvPr>
          <p:cNvSpPr txBox="1"/>
          <p:nvPr/>
        </p:nvSpPr>
        <p:spPr>
          <a:xfrm>
            <a:off x="640080" y="429768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u="sng" dirty="0">
                <a:solidFill>
                  <a:schemeClr val="tx1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Try the live demo</a:t>
            </a:r>
            <a:endParaRPr lang="en-US" sz="1600" dirty="0"/>
          </a:p>
        </p:txBody>
      </p:sp>
      <p:sp>
        <p:nvSpPr>
          <p:cNvPr id="7" name="Demo address"/>
          <p:cNvSpPr txBox="1"/>
          <p:nvPr/>
        </p:nvSpPr>
        <p:spPr>
          <a:xfrm>
            <a:off x="640080" y="5029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app.resolvogroup.com/demo</a:t>
            </a:r>
            <a:endParaRPr lang="en-US" sz="1200" dirty="0"/>
          </a:p>
        </p:txBody>
      </p:sp>
      <p:sp>
        <p:nvSpPr>
          <p:cNvPr id="8" name="Focus mode screenshot frame"/>
          <p:cNvSpPr/>
          <p:nvPr/>
        </p:nvSpPr>
        <p:spPr>
          <a:xfrm>
            <a:off x="5980176" y="996696"/>
            <a:ext cx="5596128" cy="3538728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5400000">
              <a:srgbClr val="0A0F1E">
                <a:alpha val="18000"/>
              </a:srgbClr>
            </a:outerShdw>
          </a:effectLst>
        </p:spPr>
      </p:sp>
      <p:pic>
        <p:nvPicPr>
          <p:cNvPr id="9" name="Focus mode screenshot" descr="Focus mode screensh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051560"/>
            <a:ext cx="5486400" cy="3429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Small support teams drown in noise</a:t>
            </a:r>
            <a:endParaRPr lang="en-US" sz="3600" dirty="0"/>
          </a:p>
        </p:txBody>
      </p:sp>
      <p:sp>
        <p:nvSpPr>
          <p:cNvPr id="3" name="Card 1"/>
          <p:cNvSpPr/>
          <p:nvPr/>
        </p:nvSpPr>
        <p:spPr>
          <a:xfrm>
            <a:off x="640080" y="1737360"/>
            <a:ext cx="3474720" cy="3840480"/>
          </a:xfrm>
          <a:prstGeom prst="roundRect">
            <a:avLst>
              <a:gd name="adj" fmla="val 394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77800" dist="50800" dir="5400000">
              <a:srgbClr val="0A0F1E">
                <a:alpha val="18000"/>
              </a:srgbClr>
            </a:outerShdw>
          </a:effectLst>
        </p:spPr>
      </p:sp>
      <p:sp>
        <p:nvSpPr>
          <p:cNvPr id="4" name="Number badge 1"/>
          <p:cNvSpPr/>
          <p:nvPr/>
        </p:nvSpPr>
        <p:spPr>
          <a:xfrm>
            <a:off x="960120" y="2057400"/>
            <a:ext cx="731520" cy="731520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sp>
        <p:nvSpPr>
          <p:cNvPr id="5" name="Number 1"/>
          <p:cNvSpPr txBox="1"/>
          <p:nvPr/>
        </p:nvSpPr>
        <p:spPr>
          <a:xfrm>
            <a:off x="960120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1</a:t>
            </a:r>
            <a:endParaRPr lang="en-US" sz="2400" dirty="0"/>
          </a:p>
        </p:txBody>
      </p:sp>
      <p:sp>
        <p:nvSpPr>
          <p:cNvPr id="6" name="Card title 1"/>
          <p:cNvSpPr txBox="1"/>
          <p:nvPr/>
        </p:nvSpPr>
        <p:spPr>
          <a:xfrm>
            <a:off x="960120" y="30175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Messages everywhere</a:t>
            </a:r>
            <a:endParaRPr lang="en-US" sz="2200" dirty="0"/>
          </a:p>
        </p:txBody>
      </p:sp>
      <p:sp>
        <p:nvSpPr>
          <p:cNvPr id="7" name="Card text 1"/>
          <p:cNvSpPr txBox="1"/>
          <p:nvPr/>
        </p:nvSpPr>
        <p:spPr>
          <a:xfrm>
            <a:off x="960120" y="356616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Email, WhatsApp and web chat in three places. Two people answer one customer, or nobody does.</a:t>
            </a:r>
            <a:endParaRPr lang="en-US" sz="1500" dirty="0"/>
          </a:p>
        </p:txBody>
      </p:sp>
      <p:sp>
        <p:nvSpPr>
          <p:cNvPr id="8" name="Card 2"/>
          <p:cNvSpPr/>
          <p:nvPr/>
        </p:nvSpPr>
        <p:spPr>
          <a:xfrm>
            <a:off x="4389120" y="1737360"/>
            <a:ext cx="3474720" cy="3840480"/>
          </a:xfrm>
          <a:prstGeom prst="roundRect">
            <a:avLst>
              <a:gd name="adj" fmla="val 394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77800" dist="50800" dir="5400000">
              <a:srgbClr val="0A0F1E">
                <a:alpha val="18000"/>
              </a:srgbClr>
            </a:outerShdw>
          </a:effectLst>
        </p:spPr>
      </p:sp>
      <p:sp>
        <p:nvSpPr>
          <p:cNvPr id="9" name="Number badge 2"/>
          <p:cNvSpPr/>
          <p:nvPr/>
        </p:nvSpPr>
        <p:spPr>
          <a:xfrm>
            <a:off x="4709160" y="2057400"/>
            <a:ext cx="731520" cy="731520"/>
          </a:xfrm>
          <a:prstGeom prst="ellipse">
            <a:avLst/>
          </a:prstGeom>
          <a:solidFill>
            <a:schemeClr val="accent3">
              <a:alpha val="15000"/>
            </a:schemeClr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709160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2</a:t>
            </a:r>
            <a:endParaRPr lang="en-US" sz="2400" dirty="0"/>
          </a:p>
        </p:txBody>
      </p:sp>
      <p:sp>
        <p:nvSpPr>
          <p:cNvPr id="11" name="Card title 2"/>
          <p:cNvSpPr txBox="1"/>
          <p:nvPr/>
        </p:nvSpPr>
        <p:spPr>
          <a:xfrm>
            <a:off x="4709160" y="30175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Noise in the queue</a:t>
            </a:r>
            <a:endParaRPr lang="en-US" sz="2200" dirty="0"/>
          </a:p>
        </p:txBody>
      </p:sp>
      <p:sp>
        <p:nvSpPr>
          <p:cNvPr id="12" name="Card text 2"/>
          <p:cNvSpPr txBox="1"/>
          <p:nvPr/>
        </p:nvSpPr>
        <p:spPr>
          <a:xfrm>
            <a:off x="4709160" y="356616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Newsletters and system alerts become tickets, so the counts stop meaning anything.</a:t>
            </a:r>
            <a:endParaRPr lang="en-US" sz="1500" dirty="0"/>
          </a:p>
        </p:txBody>
      </p:sp>
      <p:sp>
        <p:nvSpPr>
          <p:cNvPr id="13" name="Card 3"/>
          <p:cNvSpPr/>
          <p:nvPr/>
        </p:nvSpPr>
        <p:spPr>
          <a:xfrm>
            <a:off x="8138160" y="1737360"/>
            <a:ext cx="3474720" cy="3840480"/>
          </a:xfrm>
          <a:prstGeom prst="roundRect">
            <a:avLst>
              <a:gd name="adj" fmla="val 394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77800" dist="50800" dir="5400000">
              <a:srgbClr val="0A0F1E">
                <a:alpha val="18000"/>
              </a:srgbClr>
            </a:outerShdw>
          </a:effectLst>
        </p:spPr>
      </p:sp>
      <p:sp>
        <p:nvSpPr>
          <p:cNvPr id="14" name="Number badge 3"/>
          <p:cNvSpPr/>
          <p:nvPr/>
        </p:nvSpPr>
        <p:spPr>
          <a:xfrm>
            <a:off x="8458200" y="2057400"/>
            <a:ext cx="731520" cy="731520"/>
          </a:xfrm>
          <a:prstGeom prst="ellipse">
            <a:avLst/>
          </a:prstGeom>
          <a:solidFill>
            <a:schemeClr val="accent4">
              <a:alpha val="15000"/>
            </a:schemeClr>
          </a:solidFill>
          <a:ln/>
        </p:spPr>
      </p:sp>
      <p:sp>
        <p:nvSpPr>
          <p:cNvPr id="15" name="Number 3"/>
          <p:cNvSpPr txBox="1"/>
          <p:nvPr/>
        </p:nvSpPr>
        <p:spPr>
          <a:xfrm>
            <a:off x="8458200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4"/>
                </a:solidFill>
              </a:rPr>
              <a:t>3</a:t>
            </a:r>
            <a:endParaRPr lang="en-US" sz="2400" dirty="0"/>
          </a:p>
        </p:txBody>
      </p:sp>
      <p:sp>
        <p:nvSpPr>
          <p:cNvPr id="16" name="Card title 3"/>
          <p:cNvSpPr txBox="1"/>
          <p:nvPr/>
        </p:nvSpPr>
        <p:spPr>
          <a:xfrm>
            <a:off x="8458200" y="30175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No clear next step</a:t>
            </a:r>
            <a:endParaRPr lang="en-US" sz="2200" dirty="0"/>
          </a:p>
        </p:txBody>
      </p:sp>
      <p:sp>
        <p:nvSpPr>
          <p:cNvPr id="17" name="Card text 3"/>
          <p:cNvSpPr txBox="1"/>
          <p:nvPr/>
        </p:nvSpPr>
        <p:spPr>
          <a:xfrm>
            <a:off x="8458200" y="356616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Everything looks equally urgent. Tickets near their target time hide among the rest.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274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9669"/>
                </a:solidFill>
              </a:rPr>
              <a:t>TODAY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50292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Start with what needs you</a:t>
            </a:r>
            <a:endParaRPr lang="en-US" sz="3400" dirty="0"/>
          </a:p>
        </p:txBody>
      </p:sp>
      <p:sp>
        <p:nvSpPr>
          <p:cNvPr id="4" name="Bullets"/>
          <p:cNvSpPr txBox="1"/>
          <p:nvPr/>
        </p:nvSpPr>
        <p:spPr>
          <a:xfrm>
            <a:off x="640080" y="2286000"/>
            <a:ext cx="4754880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A short list of the tickets waiting on you, closest to their target time first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One click opens the ticket; one more starts Focus mode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Numbers match the inbox exactly, with newsletters and alerts left out</a:t>
            </a:r>
            <a:endParaRPr lang="en-US" sz="1600" dirty="0"/>
          </a:p>
        </p:txBody>
      </p:sp>
      <p:sp>
        <p:nvSpPr>
          <p:cNvPr id="5" name="Today dashboard screenshot frame"/>
          <p:cNvSpPr/>
          <p:nvPr/>
        </p:nvSpPr>
        <p:spPr>
          <a:xfrm>
            <a:off x="5980176" y="905256"/>
            <a:ext cx="5596128" cy="3538728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5400000">
              <a:srgbClr val="0A0F1E">
                <a:alpha val="18000"/>
              </a:srgbClr>
            </a:outerShdw>
          </a:effectLst>
        </p:spPr>
      </p:sp>
      <p:pic>
        <p:nvPicPr>
          <p:cNvPr id="6" name="Today dashboard screenshot" descr="Today dashboard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960120"/>
            <a:ext cx="5486400" cy="3429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274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4D399"/>
                </a:solidFill>
              </a:rPr>
              <a:t>FOCUS MODE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64008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One ticket at a time</a:t>
            </a:r>
            <a:endParaRPr lang="en-US" sz="4000" dirty="0"/>
          </a:p>
        </p:txBody>
      </p:sp>
      <p:sp>
        <p:nvSpPr>
          <p:cNvPr id="4" name="Bullets"/>
          <p:cNvSpPr txBox="1"/>
          <p:nvPr/>
        </p:nvSpPr>
        <p:spPr>
          <a:xfrm>
            <a:off x="640080" y="2286000"/>
            <a:ext cx="4754880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</a:rPr>
              <a:t>One calm queue, one conversation at full width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</a:rPr>
              <a:t>Send &amp; resolve, then next: it only moves on after the reply really sent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</a:rPr>
              <a:t>J and K to move, R to reply, E to resolve, Esc to go back</a:t>
            </a:r>
            <a:endParaRPr lang="en-US" sz="1600" dirty="0"/>
          </a:p>
        </p:txBody>
      </p:sp>
      <p:sp>
        <p:nvSpPr>
          <p:cNvPr id="5" name="Focus mode queue screenshot frame"/>
          <p:cNvSpPr/>
          <p:nvPr/>
        </p:nvSpPr>
        <p:spPr>
          <a:xfrm>
            <a:off x="5980176" y="905256"/>
            <a:ext cx="5596128" cy="3538728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5400000">
              <a:srgbClr val="0A0F1E">
                <a:alpha val="18000"/>
              </a:srgbClr>
            </a:outerShdw>
          </a:effectLst>
        </p:spPr>
      </p:sp>
      <p:pic>
        <p:nvPicPr>
          <p:cNvPr id="6" name="Focus mode queue screenshot" descr="Focus mode queue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960120"/>
            <a:ext cx="5486400" cy="3429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274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9669"/>
                </a:solidFill>
              </a:rPr>
              <a:t>A CLEAN INBOX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50292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Newsletters and alerts stay out of your queue</a:t>
            </a:r>
            <a:endParaRPr lang="en-US" sz="3400" dirty="0"/>
          </a:p>
        </p:txBody>
      </p:sp>
      <p:sp>
        <p:nvSpPr>
          <p:cNvPr id="4" name="Bullets"/>
          <p:cNvSpPr txBox="1"/>
          <p:nvPr/>
        </p:nvSpPr>
        <p:spPr>
          <a:xfrm>
            <a:off x="640080" y="2514600"/>
            <a:ext cx="4754880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Spotted automatically and kept in their own view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Close them all in one click, or close and block the senders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A real customer caught by mistake moves back for good</a:t>
            </a:r>
            <a:endParaRPr lang="en-US" sz="1600" dirty="0"/>
          </a:p>
        </p:txBody>
      </p:sp>
      <p:sp>
        <p:nvSpPr>
          <p:cNvPr id="5" name="Promotions and alerts screenshot frame"/>
          <p:cNvSpPr/>
          <p:nvPr/>
        </p:nvSpPr>
        <p:spPr>
          <a:xfrm>
            <a:off x="5980176" y="905256"/>
            <a:ext cx="5596128" cy="3538728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5400000">
              <a:srgbClr val="0A0F1E">
                <a:alpha val="18000"/>
              </a:srgbClr>
            </a:outerShdw>
          </a:effectLst>
        </p:spPr>
      </p:sp>
      <p:pic>
        <p:nvPicPr>
          <p:cNvPr id="6" name="Promotions and alerts screenshot" descr="Promotions and alerts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960120"/>
            <a:ext cx="5486400" cy="3429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274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4D399"/>
                </a:solidFill>
              </a:rPr>
              <a:t>INSIGHTS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64008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Answers, not just charts</a:t>
            </a:r>
            <a:endParaRPr lang="en-US" sz="4000" dirty="0"/>
          </a:p>
        </p:txBody>
      </p:sp>
      <p:sp>
        <p:nvSpPr>
          <p:cNvPr id="4" name="Bullets"/>
          <p:cNvSpPr txBox="1"/>
          <p:nvPr/>
        </p:nvSpPr>
        <p:spPr>
          <a:xfrm>
            <a:off x="640080" y="2286000"/>
            <a:ext cx="4754880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</a:rPr>
              <a:t>Plain answers: are we answering fast enough, who needs help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</a:rPr>
              <a:t>Overview with compare-to-previous, and a team scorecard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</a:rPr>
              <a:t>Reports and customer health under the same tab bar</a:t>
            </a:r>
            <a:endParaRPr lang="en-US" sz="1600" dirty="0"/>
          </a:p>
        </p:txBody>
      </p:sp>
      <p:sp>
        <p:nvSpPr>
          <p:cNvPr id="5" name="Insights questions screenshot frame"/>
          <p:cNvSpPr/>
          <p:nvPr/>
        </p:nvSpPr>
        <p:spPr>
          <a:xfrm>
            <a:off x="5980176" y="905256"/>
            <a:ext cx="5596128" cy="3538728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5400000">
              <a:srgbClr val="0A0F1E">
                <a:alpha val="18000"/>
              </a:srgbClr>
            </a:outerShdw>
          </a:effectLst>
        </p:spPr>
      </p:sp>
      <p:pic>
        <p:nvPicPr>
          <p:cNvPr id="6" name="Insights questions screenshot" descr="Insights questions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960120"/>
            <a:ext cx="5486400" cy="3429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Know your customers, know your setup</a:t>
            </a:r>
            <a:endParaRPr lang="en-US" sz="3600" dirty="0"/>
          </a:p>
        </p:txBody>
      </p:sp>
      <p:sp>
        <p:nvSpPr>
          <p:cNvPr id="3" name="Customers screenshot frame"/>
          <p:cNvSpPr/>
          <p:nvPr/>
        </p:nvSpPr>
        <p:spPr>
          <a:xfrm>
            <a:off x="585216" y="1545336"/>
            <a:ext cx="5321808" cy="3367278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5400000">
              <a:srgbClr val="0A0F1E">
                <a:alpha val="18000"/>
              </a:srgbClr>
            </a:outerShdw>
          </a:effectLst>
        </p:spPr>
      </p:sp>
      <p:pic>
        <p:nvPicPr>
          <p:cNvPr id="4" name="Customers screenshot" descr="Customers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200"/>
            <a:ext cx="5212080" cy="3257550"/>
          </a:xfrm>
          <a:prstGeom prst="rect">
            <a:avLst/>
          </a:prstGeom>
        </p:spPr>
      </p:pic>
      <p:sp>
        <p:nvSpPr>
          <p:cNvPr id="5" name="Settings screenshot frame"/>
          <p:cNvSpPr/>
          <p:nvPr/>
        </p:nvSpPr>
        <p:spPr>
          <a:xfrm>
            <a:off x="6254496" y="1545336"/>
            <a:ext cx="5321808" cy="3367278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5400000">
              <a:srgbClr val="0A0F1E">
                <a:alpha val="18000"/>
              </a:srgbClr>
            </a:outerShdw>
          </a:effectLst>
        </p:spPr>
      </p:sp>
      <p:pic>
        <p:nvPicPr>
          <p:cNvPr id="6" name="Settings screenshot" descr="Settings screensh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00200"/>
            <a:ext cx="5212080" cy="3257550"/>
          </a:xfrm>
          <a:prstGeom prst="rect">
            <a:avLst/>
          </a:prstGeom>
        </p:spPr>
      </p:pic>
      <p:sp>
        <p:nvSpPr>
          <p:cNvPr id="7" name="Customers caption"/>
          <p:cNvSpPr txBox="1"/>
          <p:nvPr/>
        </p:nvSpPr>
        <p:spPr>
          <a:xfrm>
            <a:off x="640080" y="502920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Customers: health badges, last contact, and one-click merging of the same person on email and WhatsApp</a:t>
            </a:r>
            <a:endParaRPr lang="en-US" sz="1500" dirty="0"/>
          </a:p>
        </p:txBody>
      </p:sp>
      <p:sp>
        <p:nvSpPr>
          <p:cNvPr id="8" name="Settings caption"/>
          <p:cNvSpPr txBox="1"/>
          <p:nvPr/>
        </p:nvSpPr>
        <p:spPr>
          <a:xfrm>
            <a:off x="6309360" y="502920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Settings: what is on, off or needs attention, with search and a side list inside every section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274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4D399"/>
                </a:solidFill>
              </a:rPr>
              <a:t>ON YOUR PHONE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64008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Runs in your pocket</a:t>
            </a:r>
            <a:endParaRPr lang="en-US" sz="4000" dirty="0"/>
          </a:p>
        </p:txBody>
      </p:sp>
      <p:sp>
        <p:nvSpPr>
          <p:cNvPr id="4" name="Bullets"/>
          <p:cNvSpPr txBox="1"/>
          <p:nvPr/>
        </p:nvSpPr>
        <p:spPr>
          <a:xfrm>
            <a:off x="640080" y="2286000"/>
            <a:ext cx="4754880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</a:rPr>
              <a:t>Install it from the browser. No app store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</a:rPr>
              <a:t>Alerts when a ticket is yours, or close to or past its target time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</a:rPr>
              <a:t>Swipe right to take a ticket, left to snooze it until tomorrow</a:t>
            </a:r>
            <a:endParaRPr lang="en-US" sz="1600" dirty="0"/>
          </a:p>
        </p:txBody>
      </p:sp>
      <p:sp>
        <p:nvSpPr>
          <p:cNvPr id="5" name="Phone frame 1"/>
          <p:cNvSpPr/>
          <p:nvPr/>
        </p:nvSpPr>
        <p:spPr>
          <a:xfrm>
            <a:off x="6419088" y="429768"/>
            <a:ext cx="2478024" cy="5192385"/>
          </a:xfrm>
          <a:prstGeom prst="roundRect">
            <a:avLst>
              <a:gd name="adj" fmla="val 7380"/>
            </a:avLst>
          </a:prstGeom>
          <a:solidFill>
            <a:srgbClr val="1E293B"/>
          </a:solidFill>
          <a:ln/>
        </p:spPr>
      </p:sp>
      <p:pic>
        <p:nvPicPr>
          <p:cNvPr id="6" name="Phone screenshot 1" descr="Queue on a ph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502920"/>
            <a:ext cx="2331720" cy="5046081"/>
          </a:xfrm>
          <a:prstGeom prst="rect">
            <a:avLst/>
          </a:prstGeom>
        </p:spPr>
      </p:pic>
      <p:sp>
        <p:nvSpPr>
          <p:cNvPr id="7" name="Phone frame 2"/>
          <p:cNvSpPr/>
          <p:nvPr/>
        </p:nvSpPr>
        <p:spPr>
          <a:xfrm>
            <a:off x="9070848" y="429768"/>
            <a:ext cx="2478024" cy="5192385"/>
          </a:xfrm>
          <a:prstGeom prst="roundRect">
            <a:avLst>
              <a:gd name="adj" fmla="val 7380"/>
            </a:avLst>
          </a:prstGeom>
          <a:solidFill>
            <a:srgbClr val="1E293B"/>
          </a:solidFill>
          <a:ln/>
        </p:spPr>
      </p:sp>
      <p:pic>
        <p:nvPicPr>
          <p:cNvPr id="8" name="Phone screenshot 2" descr="Conversation on a pho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502920"/>
            <a:ext cx="2331720" cy="504608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One price per brand, not per seat</a:t>
            </a:r>
            <a:endParaRPr lang="en-US" sz="3600" dirty="0"/>
          </a:p>
        </p:txBody>
      </p:sp>
      <p:sp>
        <p:nvSpPr>
          <p:cNvPr id="3" name="Free card"/>
          <p:cNvSpPr/>
          <p:nvPr/>
        </p:nvSpPr>
        <p:spPr>
          <a:xfrm>
            <a:off x="640080" y="1600200"/>
            <a:ext cx="3474720" cy="4343400"/>
          </a:xfrm>
          <a:prstGeom prst="roundRect">
            <a:avLst>
              <a:gd name="adj" fmla="val 3947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5400000">
              <a:srgbClr val="0A0F1E">
                <a:alpha val="18000"/>
              </a:srgbClr>
            </a:outerShdw>
          </a:effectLst>
        </p:spPr>
      </p:sp>
      <p:sp>
        <p:nvSpPr>
          <p:cNvPr id="4" name="Free name"/>
          <p:cNvSpPr txBox="1"/>
          <p:nvPr/>
        </p:nvSpPr>
        <p:spPr>
          <a:xfrm>
            <a:off x="960120" y="18288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Free</a:t>
            </a:r>
            <a:endParaRPr lang="en-US" sz="2000" dirty="0"/>
          </a:p>
        </p:txBody>
      </p:sp>
      <p:sp>
        <p:nvSpPr>
          <p:cNvPr id="5" name="Free price"/>
          <p:cNvSpPr txBox="1"/>
          <p:nvPr/>
        </p:nvSpPr>
        <p:spPr>
          <a:xfrm>
            <a:off x="960120" y="233172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₹0</a:t>
            </a:r>
            <a:endParaRPr lang="en-US" sz="4400" dirty="0"/>
          </a:p>
        </p:txBody>
      </p:sp>
      <p:sp>
        <p:nvSpPr>
          <p:cNvPr id="6" name="Free period"/>
          <p:cNvSpPr txBox="1"/>
          <p:nvPr/>
        </p:nvSpPr>
        <p:spPr>
          <a:xfrm>
            <a:off x="960120" y="31089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per brand / month</a:t>
            </a:r>
            <a:endParaRPr lang="en-US" sz="1200" dirty="0"/>
          </a:p>
        </p:txBody>
      </p:sp>
      <p:sp>
        <p:nvSpPr>
          <p:cNvPr id="7" name="Free features"/>
          <p:cNvSpPr txBox="1"/>
          <p:nvPr/>
        </p:nvSpPr>
        <p:spPr>
          <a:xfrm>
            <a:off x="960120" y="3611880"/>
            <a:ext cx="2880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Issue and ticket tracking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Search, watchers, audit trail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1 brand, no per-seat fees</a:t>
            </a:r>
            <a:endParaRPr lang="en-US" sz="1400" dirty="0"/>
          </a:p>
        </p:txBody>
      </p:sp>
      <p:sp>
        <p:nvSpPr>
          <p:cNvPr id="8" name="Pro card"/>
          <p:cNvSpPr/>
          <p:nvPr/>
        </p:nvSpPr>
        <p:spPr>
          <a:xfrm>
            <a:off x="4389120" y="1600200"/>
            <a:ext cx="3474720" cy="4343400"/>
          </a:xfrm>
          <a:prstGeom prst="roundRect">
            <a:avLst>
              <a:gd name="adj" fmla="val 3947"/>
            </a:avLst>
          </a:prstGeom>
          <a:solidFill>
            <a:schemeClr val="bg1"/>
          </a:solidFill>
          <a:ln w="28575">
            <a:solidFill>
              <a:schemeClr val="accent1"/>
            </a:solidFill>
            <a:prstDash val="solid"/>
          </a:ln>
          <a:effectLst>
            <a:outerShdw sx="100000" sy="100000" kx="0" ky="0" algn="bl" rotWithShape="0" blurRad="177800" dist="50800" dir="5400000">
              <a:srgbClr val="0A0F1E">
                <a:alpha val="18000"/>
              </a:srgbClr>
            </a:outerShdw>
          </a:effectLst>
        </p:spPr>
      </p:sp>
      <p:sp>
        <p:nvSpPr>
          <p:cNvPr id="9" name="Pro name"/>
          <p:cNvSpPr txBox="1"/>
          <p:nvPr/>
        </p:nvSpPr>
        <p:spPr>
          <a:xfrm>
            <a:off x="4709160" y="18288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Pro</a:t>
            </a:r>
            <a:endParaRPr lang="en-US" sz="2000" dirty="0"/>
          </a:p>
        </p:txBody>
      </p:sp>
      <p:sp>
        <p:nvSpPr>
          <p:cNvPr id="10" name="Pro price"/>
          <p:cNvSpPr txBox="1"/>
          <p:nvPr/>
        </p:nvSpPr>
        <p:spPr>
          <a:xfrm>
            <a:off x="4709160" y="233172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₹999</a:t>
            </a:r>
            <a:endParaRPr lang="en-US" sz="4400" dirty="0"/>
          </a:p>
        </p:txBody>
      </p:sp>
      <p:sp>
        <p:nvSpPr>
          <p:cNvPr id="11" name="Pro period"/>
          <p:cNvSpPr txBox="1"/>
          <p:nvPr/>
        </p:nvSpPr>
        <p:spPr>
          <a:xfrm>
            <a:off x="4709160" y="31089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per brand / month</a:t>
            </a:r>
            <a:endParaRPr lang="en-US" sz="1200" dirty="0"/>
          </a:p>
        </p:txBody>
      </p:sp>
      <p:sp>
        <p:nvSpPr>
          <p:cNvPr id="12" name="Pro features"/>
          <p:cNvSpPr txBox="1"/>
          <p:nvPr/>
        </p:nvSpPr>
        <p:spPr>
          <a:xfrm>
            <a:off x="4709160" y="3611880"/>
            <a:ext cx="2880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Email ticketing inbox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AI reply drafts and triage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Insights, SLA and workload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Knowledge base, Kanban, sprints</a:t>
            </a:r>
            <a:endParaRPr lang="en-US" sz="1400" dirty="0"/>
          </a:p>
        </p:txBody>
      </p:sp>
      <p:sp>
        <p:nvSpPr>
          <p:cNvPr id="13" name="Enterprise card"/>
          <p:cNvSpPr/>
          <p:nvPr/>
        </p:nvSpPr>
        <p:spPr>
          <a:xfrm>
            <a:off x="8138160" y="1600200"/>
            <a:ext cx="3474720" cy="4343400"/>
          </a:xfrm>
          <a:prstGeom prst="roundRect">
            <a:avLst>
              <a:gd name="adj" fmla="val 3947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5400000">
              <a:srgbClr val="0A0F1E">
                <a:alpha val="18000"/>
              </a:srgbClr>
            </a:outerShdw>
          </a:effectLst>
        </p:spPr>
      </p:sp>
      <p:sp>
        <p:nvSpPr>
          <p:cNvPr id="14" name="Enterprise name"/>
          <p:cNvSpPr txBox="1"/>
          <p:nvPr/>
        </p:nvSpPr>
        <p:spPr>
          <a:xfrm>
            <a:off x="8458200" y="18288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Enterprise</a:t>
            </a:r>
            <a:endParaRPr lang="en-US" sz="2000" dirty="0"/>
          </a:p>
        </p:txBody>
      </p:sp>
      <p:sp>
        <p:nvSpPr>
          <p:cNvPr id="15" name="Enterprise price"/>
          <p:cNvSpPr txBox="1"/>
          <p:nvPr/>
        </p:nvSpPr>
        <p:spPr>
          <a:xfrm>
            <a:off x="8458200" y="233172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₹2,499</a:t>
            </a:r>
            <a:endParaRPr lang="en-US" sz="4400" dirty="0"/>
          </a:p>
        </p:txBody>
      </p:sp>
      <p:sp>
        <p:nvSpPr>
          <p:cNvPr id="16" name="Enterprise period"/>
          <p:cNvSpPr txBox="1"/>
          <p:nvPr/>
        </p:nvSpPr>
        <p:spPr>
          <a:xfrm>
            <a:off x="8458200" y="31089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per brand / month</a:t>
            </a:r>
            <a:endParaRPr lang="en-US" sz="1200" dirty="0"/>
          </a:p>
        </p:txBody>
      </p:sp>
      <p:sp>
        <p:nvSpPr>
          <p:cNvPr id="17" name="Enterprise features"/>
          <p:cNvSpPr txBox="1"/>
          <p:nvPr/>
        </p:nvSpPr>
        <p:spPr>
          <a:xfrm>
            <a:off x="8458200" y="3611880"/>
            <a:ext cx="2880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Everything in Pro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Customer portal and booking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Jira / ServiceNow sync, API keys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GDPR data tools</a:t>
            </a:r>
            <a:endParaRPr lang="en-US" sz="1400" dirty="0"/>
          </a:p>
        </p:txBody>
      </p:sp>
      <p:sp>
        <p:nvSpPr>
          <p:cNvPr id="18" name="Trial note"/>
          <p:cNvSpPr txBox="1"/>
          <p:nvPr/>
        </p:nvSpPr>
        <p:spPr>
          <a:xfrm>
            <a:off x="640080" y="6126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14-day free trial on Pro. No credit card. Prices in INR.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64008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Try it on your own inbox</a:t>
            </a:r>
            <a:endParaRPr lang="en-US" sz="4000" dirty="0"/>
          </a:p>
        </p:txBody>
      </p:sp>
      <p:sp>
        <p:nvSpPr>
          <p:cNvPr id="3" name="Closing text"/>
          <p:cNvSpPr txBox="1"/>
          <p:nvPr/>
        </p:nvSpPr>
        <p:spPr>
          <a:xfrm>
            <a:off x="640080" y="228600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14 days free. Connect your support email and be live in an afternoon. Tell us what is missing; we are building with our first teams.</a:t>
            </a:r>
            <a:endParaRPr lang="en-US" sz="1800" dirty="0"/>
          </a:p>
        </p:txBody>
      </p:sp>
      <p:sp>
        <p:nvSpPr>
          <p:cNvPr id="4" name="Link dot 1"/>
          <p:cNvSpPr/>
          <p:nvPr/>
        </p:nvSpPr>
        <p:spPr>
          <a:xfrm>
            <a:off x="640080" y="3931920"/>
            <a:ext cx="502920" cy="502920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5" name="Link label 1"/>
          <p:cNvSpPr txBox="1"/>
          <p:nvPr/>
        </p:nvSpPr>
        <p:spPr>
          <a:xfrm>
            <a:off x="1371600" y="39136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</a:rPr>
              <a:t>Live demo</a:t>
            </a:r>
            <a:endParaRPr lang="en-US" sz="1200" dirty="0"/>
          </a:p>
        </p:txBody>
      </p:sp>
      <p:sp>
        <p:nvSpPr>
          <p:cNvPr id="6" name="Link 1">
            <a:hlinkClick r:id="rId1" tooltip=""/>
          </p:cNvPr>
          <p:cNvSpPr txBox="1"/>
          <p:nvPr/>
        </p:nvSpPr>
        <p:spPr>
          <a:xfrm>
            <a:off x="1371600" y="41605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u="sng" dirty="0">
                <a:solidFill>
                  <a:schemeClr val="bg1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app.resolvogroup.com/demo</a:t>
            </a:r>
            <a:endParaRPr lang="en-US" sz="1600" dirty="0"/>
          </a:p>
        </p:txBody>
      </p:sp>
      <p:sp>
        <p:nvSpPr>
          <p:cNvPr id="7" name="Link dot 2"/>
          <p:cNvSpPr/>
          <p:nvPr/>
        </p:nvSpPr>
        <p:spPr>
          <a:xfrm>
            <a:off x="640080" y="4709160"/>
            <a:ext cx="502920" cy="502920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8" name="Link label 2"/>
          <p:cNvSpPr txBox="1"/>
          <p:nvPr/>
        </p:nvSpPr>
        <p:spPr>
          <a:xfrm>
            <a:off x="1371600" y="46908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</a:rPr>
              <a:t>Start free</a:t>
            </a:r>
            <a:endParaRPr lang="en-US" sz="1200" dirty="0"/>
          </a:p>
        </p:txBody>
      </p:sp>
      <p:sp>
        <p:nvSpPr>
          <p:cNvPr id="9" name="Link 2">
            <a:hlinkClick r:id="rId2" tooltip=""/>
          </p:cNvPr>
          <p:cNvSpPr txBox="1"/>
          <p:nvPr/>
        </p:nvSpPr>
        <p:spPr>
          <a:xfrm>
            <a:off x="1371600" y="49377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u="sng" dirty="0">
                <a:solidFill>
                  <a:schemeClr val="bg1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app.resolvogroup.com/signup</a:t>
            </a:r>
            <a:endParaRPr lang="en-US" sz="1600" dirty="0"/>
          </a:p>
        </p:txBody>
      </p:sp>
      <p:sp>
        <p:nvSpPr>
          <p:cNvPr id="10" name="Link dot 3"/>
          <p:cNvSpPr/>
          <p:nvPr/>
        </p:nvSpPr>
        <p:spPr>
          <a:xfrm>
            <a:off x="640080" y="5486400"/>
            <a:ext cx="502920" cy="502920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11" name="Link label 3"/>
          <p:cNvSpPr txBox="1"/>
          <p:nvPr/>
        </p:nvSpPr>
        <p:spPr>
          <a:xfrm>
            <a:off x="1371600" y="54681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</a:rPr>
              <a:t>Talk to us</a:t>
            </a:r>
            <a:endParaRPr lang="en-US" sz="1200" dirty="0"/>
          </a:p>
        </p:txBody>
      </p:sp>
      <p:sp>
        <p:nvSpPr>
          <p:cNvPr id="12" name="Link 3">
            <a:hlinkClick r:id="rId3" tooltip=""/>
          </p:cNvPr>
          <p:cNvSpPr txBox="1"/>
          <p:nvPr/>
        </p:nvSpPr>
        <p:spPr>
          <a:xfrm>
            <a:off x="1371600" y="57150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u="sng" dirty="0">
                <a:solidFill>
                  <a:schemeClr val="bg1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contact@resolvogroup.com</a:t>
            </a:r>
            <a:endParaRPr lang="en-US" sz="1600" dirty="0"/>
          </a:p>
        </p:txBody>
      </p:sp>
      <p:sp>
        <p:nvSpPr>
          <p:cNvPr id="13" name="Inbox screenshot frame"/>
          <p:cNvSpPr/>
          <p:nvPr/>
        </p:nvSpPr>
        <p:spPr>
          <a:xfrm>
            <a:off x="6163056" y="1362456"/>
            <a:ext cx="5413248" cy="3424428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5400000">
              <a:srgbClr val="0A0F1E">
                <a:alpha val="18000"/>
              </a:srgbClr>
            </a:outerShdw>
          </a:effectLst>
        </p:spPr>
      </p:sp>
      <p:pic>
        <p:nvPicPr>
          <p:cNvPr id="14" name="Inbox screenshot" descr="Inbox screensho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417320"/>
            <a:ext cx="5303520" cy="33147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solvo">
  <a:themeElements>
    <a:clrScheme name="Resolvo">
      <a:dk1>
        <a:srgbClr val="0A0F1E"/>
      </a:dk1>
      <a:lt1>
        <a:srgbClr val="FFFFFF"/>
      </a:lt1>
      <a:dk2>
        <a:srgbClr val="1E293B"/>
      </a:dk2>
      <a:lt2>
        <a:srgbClr val="F4F6FA"/>
      </a:lt2>
      <a:accent1>
        <a:srgbClr val="10B981"/>
      </a:accent1>
      <a:accent2>
        <a:srgbClr val="6366F1"/>
      </a:accent2>
      <a:accent3>
        <a:srgbClr val="F59E0B"/>
      </a:accent3>
      <a:accent4>
        <a:srgbClr val="E5484D"/>
      </a:accent4>
      <a:accent5>
        <a:srgbClr val="0EA5A4"/>
      </a:accent5>
      <a:accent6>
        <a:srgbClr val="64748B"/>
      </a:accent6>
      <a:hlink>
        <a:srgbClr val="059669"/>
      </a:hlink>
      <a:folHlink>
        <a:srgbClr val="64748B"/>
      </a:folHlink>
    </a:clrScheme>
    <a:fontScheme name="Resolv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Resolvo product tour, October 2026</dc:title>
  <dc:subject>PptxGenJS Presentation</dc:subject>
  <dc:creator>Resolvo</dc:creator>
  <cp:lastModifiedBy>Resolvo</cp:lastModifiedBy>
  <cp:revision>1</cp:revision>
  <dcterms:created xsi:type="dcterms:W3CDTF">2026-10-27T09:11:45Z</dcterms:created>
  <dcterms:modified xsi:type="dcterms:W3CDTF">2026-10-27T09:11:45Z</dcterms:modified>
</cp:coreProperties>
</file>