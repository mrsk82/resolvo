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25880" y="65836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Customer support built for</a:t>
            </a:r>
            <a:endParaRPr lang="en-US" sz="4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Indian brands.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inbox for email, WhatsApp, SMS, and calls — with AI reply drafts,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that runs itself, and 15 built-in integrations. Flat pricing, in INR.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2002536" cy="438912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27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5 minutes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26664" y="534924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2735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6664" y="53492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 required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33872" y="5349240"/>
            <a:ext cx="1600200" cy="438912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2735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33872" y="53492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 free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fast-growing Indian brand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hits the same wall.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907792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907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078992" y="361188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Emails fall through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4160520"/>
            <a:ext cx="202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visibility. Two agents reply to the same customer, or nobody replies at 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84448" y="265176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0" y="2907792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907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840480" y="361188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WhatsApp becomes chaos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4160520"/>
            <a:ext cx="202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live on a personal phone. When that agent is out, the thread is gone.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45936" y="265176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01968" y="2907792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6" name="Text 14"/>
          <p:cNvSpPr/>
          <p:nvPr/>
        </p:nvSpPr>
        <p:spPr>
          <a:xfrm>
            <a:off x="6601968" y="2907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601968" y="361188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SLA visibility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01968" y="4160520"/>
            <a:ext cx="202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a ticket is about to breach until the customer is already upset.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07424" y="265176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63456" y="2907792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9363456" y="2907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9363456" y="361188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Zero reporting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63456" y="4160520"/>
            <a:ext cx="202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tickets did we close?" has no fast answer without exporting spreadsheets.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conversation.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shared inbox.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WhatsApp, SMS, phone calls, and web widget tickets all land in one queue — assigned, tracked, and resolved with full history.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377647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 by keyword, channel, or round robin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423367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notes — never accidentally sent to a customer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69087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detection — see who else is viewing a ticket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1005840"/>
            <a:ext cx="4937760" cy="5120640"/>
          </a:xfrm>
          <a:prstGeom prst="roundRect">
            <a:avLst>
              <a:gd name="adj" fmla="val 2222"/>
            </a:avLst>
          </a:prstGeom>
          <a:solidFill>
            <a:srgbClr val="141B2E"/>
          </a:solidFill>
          <a:ln w="12700">
            <a:solidFill>
              <a:srgbClr val="273548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1234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Inbox · 12 open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16276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0" y="16276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86384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RISK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961120" y="16276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94%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058400" y="16276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2.4h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66560" y="260604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6903720" y="27706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27706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0372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not delivered — customer escalating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0" y="27706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left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3630168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6903720" y="37947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3794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03720" y="4087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not processed after 7 days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0" y="3794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9h left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4654296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32" name="Shape 30"/>
          <p:cNvSpPr/>
          <p:nvPr/>
        </p:nvSpPr>
        <p:spPr>
          <a:xfrm>
            <a:off x="6903720" y="48188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48188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03720" y="51114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exchange request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58400" y="48188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22h left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5715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 online · Updated 2 min ago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Everything a support team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actually needs.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566928" cy="56692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SLA Tracking &amp; Alerts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8072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Response-time targets by priority, live countdowns, and breach alerts before the deadline hits.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474720"/>
            <a:ext cx="566928" cy="566928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020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Reply Drafts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37673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context-aware draft is ready the moment a ticket lands, using the brand's own past replies.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Appointment Booking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472744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book calls straight from a ticket. Auto-confirmations and reminders, no Calendly needed.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5394960"/>
            <a:ext cx="566928" cy="566928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394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5349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CSAT Scoring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56875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satisfaction surveys on close, broken down by agent, channel, and time period.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2514600"/>
            <a:ext cx="4709160" cy="4023360"/>
          </a:xfrm>
          <a:prstGeom prst="roundRect">
            <a:avLst>
              <a:gd name="adj" fmla="val 2273"/>
            </a:avLst>
          </a:prstGeom>
          <a:solidFill>
            <a:srgbClr val="0A0F1E"/>
          </a:solidFill>
          <a:ln/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95160" y="27889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channel, one queue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95160" y="3337560"/>
            <a:ext cx="4069080" cy="475488"/>
          </a:xfrm>
          <a:prstGeom prst="roundRect">
            <a:avLst>
              <a:gd name="adj" fmla="val 15385"/>
            </a:avLst>
          </a:prstGeom>
          <a:solidFill>
            <a:srgbClr val="141B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0" y="3502152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388352" y="333756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95160" y="3904488"/>
            <a:ext cx="4069080" cy="475488"/>
          </a:xfrm>
          <a:prstGeom prst="roundRect">
            <a:avLst>
              <a:gd name="adj" fmla="val 15385"/>
            </a:avLst>
          </a:prstGeom>
          <a:solidFill>
            <a:srgbClr val="141B2E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0" y="4069080"/>
            <a:ext cx="146304" cy="146304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27" name="Text 25"/>
          <p:cNvSpPr/>
          <p:nvPr/>
        </p:nvSpPr>
        <p:spPr>
          <a:xfrm>
            <a:off x="7388352" y="39044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995160" y="4471416"/>
            <a:ext cx="4069080" cy="475488"/>
          </a:xfrm>
          <a:prstGeom prst="roundRect">
            <a:avLst>
              <a:gd name="adj" fmla="val 15385"/>
            </a:avLst>
          </a:prstGeom>
          <a:solidFill>
            <a:srgbClr val="141B2E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0" y="463600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7388352" y="447141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995160" y="5038344"/>
            <a:ext cx="4069080" cy="475488"/>
          </a:xfrm>
          <a:prstGeom prst="roundRect">
            <a:avLst>
              <a:gd name="adj" fmla="val 15385"/>
            </a:avLst>
          </a:prstGeom>
          <a:solidFill>
            <a:srgbClr val="141B2E"/>
          </a:solidFill>
          <a:ln/>
        </p:spPr>
      </p:sp>
      <p:sp>
        <p:nvSpPr>
          <p:cNvPr id="32" name="Shape 30"/>
          <p:cNvSpPr/>
          <p:nvPr/>
        </p:nvSpPr>
        <p:spPr>
          <a:xfrm>
            <a:off x="7132320" y="5202936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7388352" y="503834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995160" y="5605272"/>
            <a:ext cx="4069080" cy="475488"/>
          </a:xfrm>
          <a:prstGeom prst="roundRect">
            <a:avLst>
              <a:gd name="adj" fmla="val 15385"/>
            </a:avLst>
          </a:prstGeom>
          <a:solidFill>
            <a:srgbClr val="141B2E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0" y="5769864"/>
            <a:ext cx="146304" cy="14630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7388352" y="560527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Widget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AUTOMATION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When this happens,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 all of that. Automatically.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WHEN → IF → THEN rules, not just a canned auto-reply. One ticket event can trigger a whole chain of actions — with zero manual steps and full visibility into what fired.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41B2E"/>
          </a:solidFill>
          <a:ln w="12700">
            <a:solidFill>
              <a:srgbClr val="2735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34107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34107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87552" y="3776472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created, priority changes, or aged past N hours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3726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794760" y="324612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41B2E"/>
          </a:solidFill>
          <a:ln w="12700">
            <a:solidFill>
              <a:srgbClr val="2735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9352" y="34107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959352" y="34107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59352" y="3776472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VIP, on WhatsApp, or tagged “urgent”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3726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766560" y="3246120"/>
            <a:ext cx="4617720" cy="1417320"/>
          </a:xfrm>
          <a:prstGeom prst="roundRect">
            <a:avLst>
              <a:gd name="adj" fmla="val 6452"/>
            </a:avLst>
          </a:prstGeom>
          <a:solidFill>
            <a:srgbClr val="141B2E"/>
          </a:solidFill>
          <a:ln w="12700">
            <a:solidFill>
              <a:srgbClr val="2735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31152" y="34107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6931152" y="34107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31152" y="3776472"/>
            <a:ext cx="4288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senior agent · notify manager · file engineering issue · send acknowledgement · schedule a Meet 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on every ticket — see exactly what ran, and who it reached.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INTEGRATION MARKETPLACE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Connects to the tools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already run 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working integrations across communication, engineering, calendars, and payments. One click to connect — no engineering time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82296" cy="5486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4930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37673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Slack, WhatsApp, SMS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82296" cy="5486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0873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51560" y="43616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GitLab, Bitbucket, Jira, Linear, ServiceNow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4709160"/>
            <a:ext cx="82296" cy="5486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6817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49560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Twilio, Exotel, MyOperator, Knowlarity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82296" cy="5486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2760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CRM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51560" y="55504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Razorpay, HubSpot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5897880"/>
            <a:ext cx="82296" cy="5486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8704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61447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Calendar, Google Meet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105156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10515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105156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38160" y="10515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875520" y="105156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75520" y="10515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210312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21031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210312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38160" y="21031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875520" y="210312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875520" y="21031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315468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0" y="31546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38160" y="315468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138160" y="31546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875520" y="315468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875520" y="31546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0" y="420624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00800" y="42062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38160" y="420624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138160" y="42062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875520" y="420624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875520" y="42062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 exactly how your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support team is doing.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for open tickets, SLA compliance, agent workload, CSAT, and channel mix. A daily digest lands in your inbox every morning — no login required to know how yesterday went.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34747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2735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this week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23160" y="34747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2735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3611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96%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23360" y="34747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2735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3611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1.8h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69080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first response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23560" y="34747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2735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3611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4.6/5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0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score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06640" y="1005840"/>
            <a:ext cx="3840480" cy="5120640"/>
          </a:xfrm>
          <a:prstGeom prst="roundRect">
            <a:avLst>
              <a:gd name="adj" fmla="val 2857"/>
            </a:avLst>
          </a:prstGeom>
          <a:solidFill>
            <a:srgbClr val="141B2E"/>
          </a:solidFill>
          <a:ln w="12700">
            <a:solidFill>
              <a:srgbClr val="273548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8096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Channel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8096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42416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80960" y="2075688"/>
            <a:ext cx="3291840" cy="914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7680960" y="2075688"/>
            <a:ext cx="1382573" cy="914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2404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424160" y="2404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80960" y="2697480"/>
            <a:ext cx="3291840" cy="914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7680960" y="2697480"/>
            <a:ext cx="888797" cy="91440"/>
          </a:xfrm>
          <a:prstGeom prst="roundRect">
            <a:avLst>
              <a:gd name="adj" fmla="val 50000"/>
            </a:avLst>
          </a:prstGeom>
          <a:solidFill>
            <a:srgbClr val="25D366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3026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424160" y="3026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80960" y="3319272"/>
            <a:ext cx="3291840" cy="914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0" y="3319272"/>
            <a:ext cx="526694" cy="914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3648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Widget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424160" y="3648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80960" y="3941064"/>
            <a:ext cx="3291840" cy="914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7680960" y="3941064"/>
            <a:ext cx="296266" cy="914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7680960" y="4270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424160" y="4270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80960" y="4562856"/>
            <a:ext cx="3291840" cy="914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38" name="Shape 36"/>
          <p:cNvSpPr/>
          <p:nvPr/>
        </p:nvSpPr>
        <p:spPr>
          <a:xfrm>
            <a:off x="7680960" y="4562856"/>
            <a:ext cx="197510" cy="914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one brand to a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whole portfolio.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770632"/>
            <a:ext cx="512064" cy="512064"/>
          </a:xfrm>
          <a:prstGeom prst="ellipse">
            <a:avLst/>
          </a:prstGeom>
          <a:solidFill>
            <a:srgbClr val="F0FDF4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770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2715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Multi-Brand Support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783080" y="30815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support for multiple brands from one account. Separate inboxes, portals, SLA policies, and branding per brand.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251460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770632"/>
            <a:ext cx="512064" cy="512064"/>
          </a:xfrm>
          <a:prstGeom prst="ellipse">
            <a:avLst/>
          </a:prstGeom>
          <a:solidFill>
            <a:srgbClr val="F0FDF4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770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2715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Customer CRM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815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has a profile — tickets, purchase history, and notes in one place before you pick up the conversation.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38912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8992" y="4645152"/>
            <a:ext cx="512064" cy="512064"/>
          </a:xfrm>
          <a:prstGeom prst="ellipse">
            <a:avLst/>
          </a:prstGeom>
          <a:solidFill>
            <a:srgbClr val="F0FDF4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4645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83080" y="4590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Issue Tracker Built-In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783080" y="49560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tickets to internal bugs. Engineering sees which issues cause the most tickets — and customers get notified on fix.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438912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4645152"/>
            <a:ext cx="512064" cy="512064"/>
          </a:xfrm>
          <a:prstGeom prst="ellipse">
            <a:avLst/>
          </a:prstGeom>
          <a:solidFill>
            <a:srgbClr val="F0FDF4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4645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0" y="4590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Self-Service Portal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23760" y="49560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branded portal where customers check ticket status and add comments. Cuts “where's my update?” emails by 70%.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ZENDESK OR FRESHDESK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for India.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 adapted for India.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0" y="251460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96328" y="251460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Zendesk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72016" y="25146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916936"/>
            <a:ext cx="10789920" cy="475488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718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 INR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297180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96328" y="297180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272016" y="297180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4472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344728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96328" y="344728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add-on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72016" y="344728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add-on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867912"/>
            <a:ext cx="10789920" cy="475488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227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cloud telephony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392277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96328" y="3922776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built-in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72016" y="392277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built-in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3982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with chained actions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4398264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96328" y="4398264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plans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72016" y="4398264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4818888"/>
            <a:ext cx="10789920" cy="475488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8737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reply drafts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487375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96328" y="487375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add-on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72016" y="487375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add-on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53492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53492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96328" y="53492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Days–weeks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72016" y="534924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Hours–days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" y="5769864"/>
            <a:ext cx="10789920" cy="475488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8247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Flat-rate pricing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582472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brand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96328" y="582472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72016" y="582472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Simple pricing.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Priced for India.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add-ons. No per-seat surprises. No feature gating. Every plan gets AI drafts, WhatsApp, automation, and the full integration marketplace.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₹4,999/mo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brand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9728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tickets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5193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reply drafts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7280" y="55412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Automation engine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" y="58887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Integration marketplace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34840" y="306324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0A0F1E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₹14,999/mo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916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brands · Most popular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tickets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5193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reply drafts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55412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Automation engine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58887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Integration marketplace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306324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A0F1E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2104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2104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Custom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32104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brands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2104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tickets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21040" y="5193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reply drafts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21040" y="55412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Automation engine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21040" y="58887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Integration marketplace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0088" y="137160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730088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0F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Your support team deserves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better than a shared Gmail inbox.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for 3 months. No credit card. Live in 5 minutes.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15688" y="4709160"/>
            <a:ext cx="2560320" cy="566928"/>
          </a:xfrm>
          <a:prstGeom prst="roundRect">
            <a:avLst>
              <a:gd name="adj" fmla="val 16129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815688" y="47091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app.resolvogroup.com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2026-08-25T06:38:46Z</dcterms:created>
  <dcterms:modified xsi:type="dcterms:W3CDTF">2026-08-25T06:38:46Z</dcterms:modified>
</cp:coreProperties>
</file>