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7315200" cy="7315200"/>
          </a:xfrm>
          <a:prstGeom prst="ellipse">
            <a:avLst/>
          </a:prstGeom>
          <a:solidFill>
            <a:srgbClr val="F5A623">
              <a:alpha val="8000"/>
            </a:srgbClr>
          </a:solidFill>
          <a:ln w="12700">
            <a:solidFill>
              <a:srgbClr val="F5A623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20040" y="1691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Resolvo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20040" y="2788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Chaos to Clarity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33832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AI-powered, multi-tenant issue &amp; support platform for engineering teams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4023360"/>
            <a:ext cx="1280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41148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  ·  AI Intelligence  ·  Email Ticketing  ·  Owner Portal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4663440"/>
            <a:ext cx="210312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4663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Demo 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235440" y="2103120"/>
            <a:ext cx="1234440" cy="105156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214884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76148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652760" y="2103120"/>
            <a:ext cx="1234440" cy="105156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52760" y="214884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652760" y="276148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235440" y="3429000"/>
            <a:ext cx="1234440" cy="105156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34747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235440" y="408736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652760" y="3429000"/>
            <a:ext cx="1234440" cy="105156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52760" y="34747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652760" y="408736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5029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2004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engineering team struggles with the same chaos — scattered reports, missed SLAs, zero visibility.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627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627632"/>
            <a:ext cx="376732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810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78992" y="1828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Reports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11480" y="2523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via WhatsApp, email, Slack, spreadsheets — lost before anyone sees them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24528" y="1627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24528" y="1627632"/>
            <a:ext cx="376732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1688" y="1810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029200" y="1828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Blindness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361688" y="2523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deadline tracking. Critical bugs resolved days late. Zero warning.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74736" y="1627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74736" y="1627632"/>
            <a:ext cx="3767328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11896" y="1810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979408" y="1828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Visibility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11896" y="2523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reports a bug but never knows if it's been seen, assigned, or fixed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913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913632"/>
            <a:ext cx="3767328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096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078992" y="4114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Accountability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11480" y="4809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overloaded? Who broke SLA? Zero history, zero audit trail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24528" y="3913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24528" y="3913632"/>
            <a:ext cx="376732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61688" y="4096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029200" y="4114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Fragmentation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361688" y="4809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different tools, 4 logins — context lost everywhere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74736" y="3913632"/>
            <a:ext cx="376732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74736" y="3913632"/>
            <a:ext cx="376732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11896" y="40965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🏢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979408" y="41148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Chaos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11896" y="480974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issues across multiple clients from one place? Impossible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65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Team. Every Issue.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Resolvo unifies issue tracking, AI triage, email ticketing, and analytics under one roof — for every team in your company.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874520"/>
            <a:ext cx="2788920" cy="44348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874520"/>
            <a:ext cx="278892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205740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11480" y="28072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1148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· Kanban · Sprints · AI triage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" y="42976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+ Sprints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46634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timers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50292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actions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53949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fields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57607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46120" y="1874520"/>
            <a:ext cx="2788920" cy="44348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1874520"/>
            <a:ext cx="27889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46120" y="205740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📬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28072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Ticketing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38328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Freshdesk-style inbox · Auto-resolve · CSAT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383280" y="42976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→ ticket auto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83280" y="46634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spam filter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83280" y="50292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surveys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53949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Auto-resolve rules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57607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from platform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1874520"/>
            <a:ext cx="2788920" cy="44348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1874520"/>
            <a:ext cx="278892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205740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6355080" y="28072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5508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clusters · Churn risk · Revenue impact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55080" y="42976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AI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55080" y="46634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detector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55080" y="50292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55080" y="53949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55080" y="57607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SLA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1874520"/>
            <a:ext cx="2788920" cy="44348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89720" y="1874520"/>
            <a:ext cx="278892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205740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👑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9326880" y="28072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Portal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32688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· MRR · Health scores · CRM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326880" y="42976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dashboard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326880" y="46634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risk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326880" y="50292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health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326880" y="53949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326880" y="57607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mode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company runs their own isolated workspace.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1600200"/>
            <a:ext cx="3749040" cy="7772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600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Product Owner (You)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0760" y="2377440"/>
            <a:ext cx="0" cy="45720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371600" y="2834640"/>
            <a:ext cx="94183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668780" y="2834640"/>
            <a:ext cx="0" cy="109728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74320" y="2926080"/>
            <a:ext cx="27889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926080"/>
            <a:ext cx="2788920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9809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Konnect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520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35204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80160" y="3877056"/>
            <a:ext cx="731520" cy="201168"/>
          </a:xfrm>
          <a:prstGeom prst="rect">
            <a:avLst/>
          </a:prstGeom>
          <a:solidFill>
            <a:srgbClr val="F5A623">
              <a:alpha val="13000"/>
            </a:srgbClr>
          </a:solidFill>
          <a:ln w="12700">
            <a:solidFill>
              <a:srgbClr val="F5A623">
                <a:alpha val="33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38770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8 users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44988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142 issues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Isolated DB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897880"/>
            <a:ext cx="2606040" cy="914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5897880"/>
            <a:ext cx="221513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40580" y="2834640"/>
            <a:ext cx="0" cy="109728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246120" y="2926080"/>
            <a:ext cx="27889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46120" y="2926080"/>
            <a:ext cx="278892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29809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Atomberg Tech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37560" y="3520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251960" y="35204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 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37560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251960" y="3877056"/>
            <a:ext cx="731520" cy="201168"/>
          </a:xfrm>
          <a:prstGeom prst="rect">
            <a:avLst/>
          </a:prstGeom>
          <a:solidFill>
            <a:srgbClr val="2563EB">
              <a:alpha val="13000"/>
            </a:srgbClr>
          </a:solidFill>
          <a:ln w="12700">
            <a:solidFill>
              <a:srgbClr val="2563EB">
                <a:alpha val="33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38770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37560" y="422452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5 users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37560" y="44988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67 issues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37560" y="4800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Isolated DB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37560" y="5897880"/>
            <a:ext cx="2606040" cy="914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37560" y="5897880"/>
            <a:ext cx="2397557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12380" y="2834640"/>
            <a:ext cx="0" cy="109728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2926080"/>
            <a:ext cx="27889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2926080"/>
            <a:ext cx="2788920" cy="4754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0" y="29809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Chandran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309360" y="3520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23760" y="35204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B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23760" y="3877056"/>
            <a:ext cx="731520" cy="201168"/>
          </a:xfrm>
          <a:prstGeom prst="rect">
            <a:avLst/>
          </a:prstGeom>
          <a:solidFill>
            <a:srgbClr val="16A34A">
              <a:alpha val="13000"/>
            </a:srgbClr>
          </a:solidFill>
          <a:ln w="12700">
            <a:solidFill>
              <a:srgbClr val="16A34A">
                <a:alpha val="33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38770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422452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3 users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309360" y="44988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28 issues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309360" y="4800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Isolated DB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09360" y="5897880"/>
            <a:ext cx="2606040" cy="914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09360" y="5897880"/>
            <a:ext cx="1693926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584180" y="2834640"/>
            <a:ext cx="0" cy="109728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189720" y="2926080"/>
            <a:ext cx="27889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9189720" y="2926080"/>
            <a:ext cx="2788920" cy="47548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81160" y="29809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Client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281160" y="3520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195560" y="35204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9281160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10195560" y="3877056"/>
            <a:ext cx="731520" cy="201168"/>
          </a:xfrm>
          <a:prstGeom prst="rect">
            <a:avLst/>
          </a:prstGeom>
          <a:solidFill>
            <a:srgbClr val="6B7280">
              <a:alpha val="13000"/>
            </a:srgbClr>
          </a:solidFill>
          <a:ln w="12700">
            <a:solidFill>
              <a:srgbClr val="6B7280">
                <a:alpha val="33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195560" y="38770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81160" y="422452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0 users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281160" y="44988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0 issues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281160" y="4800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Isolated DB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AI Intelligence Hub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Resolvo doesn't just track issues — it thinks about them for you.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508760"/>
            <a:ext cx="278892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🔬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24128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Clustering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233172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similar issues by root cause automatically. 'Login fails on Safari', 'Auth token expired', '2FA broken' → ONE cluster. Fix all at once.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50876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508760"/>
            <a:ext cx="278892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⚠️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95928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Detector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55848" y="233172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resolved issue comes back, Resolvo auto-flags it and links to the original: 'This looks like ISS-0089 from March — it's back.'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508760"/>
            <a:ext cx="27889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7648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67728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SLA Breach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27648" y="233172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before breach happens: 'Dev A averages 18h on Medium issues. SLA is 24h. At current pace — breach probability: 78%.'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150876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89720" y="1508760"/>
            <a:ext cx="278892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99448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939528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 Tracking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99448" y="233172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issues with ₹ at risk. Dashboard shows total revenue exposed: '₹12.8L at risk across 5 open issues.'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11480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4114800"/>
            <a:ext cx="2788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24128" y="42976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Sentiment-Triggered Escalation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84048" y="493776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angry customers from email language. Score &lt;30 → auto-escalate to Critical. 'EXTREMELY FRUSTRATED' → immediate alert.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411480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46120" y="4114800"/>
            <a:ext cx="278892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5584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❤️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3995928" y="42976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 Scores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3355848" y="493776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0–100 health score from ticket patterns. Shows at-risk customers before they churn.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17920" y="411480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17920" y="4114800"/>
            <a:ext cx="27889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967728" y="42976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Surveys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327648" y="493776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Auto-send 1-5 star satisfaction survey after ticket resolves. Customer clicks an emoji. Track CSAT per agent, per module.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189720" y="4114800"/>
            <a:ext cx="2788920" cy="237744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189720" y="4114800"/>
            <a:ext cx="278892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9944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9939528" y="42976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Zero-Touch Auto-Resolve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299448" y="4937760"/>
            <a:ext cx="25786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rules: 'If subject matches Delivery Status Notification → auto-close, send reply.' No agent needed.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Email Ticketing — Built-In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Freshdesk-style support inbox. No extra tool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572768"/>
            <a:ext cx="5486400" cy="4754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6002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Inbox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0" y="160020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648 tickets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157984"/>
            <a:ext cx="5486400" cy="1325880"/>
          </a:xfrm>
          <a:prstGeom prst="rect">
            <a:avLst/>
          </a:prstGeom>
          <a:solidFill>
            <a:srgbClr val="FFF7E6"/>
          </a:solidFill>
          <a:ln w="3810">
            <a:solidFill>
              <a:srgbClr val="F3F4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505456"/>
            <a:ext cx="475488" cy="475488"/>
          </a:xfrm>
          <a:prstGeom prst="ellipse">
            <a:avLst/>
          </a:prstGeom>
          <a:solidFill>
            <a:srgbClr val="DC2626">
              <a:alpha val="13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505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 timeout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26517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john@acme.com — click to open full thread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69264" y="2962656"/>
            <a:ext cx="594360" cy="18288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7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296265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627632" y="2962656"/>
            <a:ext cx="594360" cy="182880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27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27632" y="296265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0" y="230428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 ago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575304"/>
            <a:ext cx="5486400" cy="1325880"/>
          </a:xfrm>
          <a:prstGeom prst="rect">
            <a:avLst/>
          </a:prstGeom>
          <a:solidFill>
            <a:srgbClr val="FFFFFF"/>
          </a:solidFill>
          <a:ln w="381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922776"/>
            <a:ext cx="475488" cy="475488"/>
          </a:xfrm>
          <a:prstGeom prst="ellipse">
            <a:avLst/>
          </a:prstGeom>
          <a:solidFill>
            <a:srgbClr val="D97706">
              <a:alpha val="13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9264" y="3721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fails on Safari iOS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" y="40690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sarah@beta.io — click to open full thread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69264" y="4379976"/>
            <a:ext cx="594360" cy="182880"/>
          </a:xfrm>
          <a:prstGeom prst="rect">
            <a:avLst/>
          </a:prstGeom>
          <a:solidFill>
            <a:srgbClr val="D97706">
              <a:alpha val="10000"/>
            </a:srgbClr>
          </a:solidFill>
          <a:ln w="12700">
            <a:solidFill>
              <a:srgbClr val="D97706">
                <a:alpha val="27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9264" y="437997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27632" y="4379976"/>
            <a:ext cx="594360" cy="182880"/>
          </a:xfrm>
          <a:prstGeom prst="rect">
            <a:avLst/>
          </a:prstGeom>
          <a:solidFill>
            <a:srgbClr val="D97706">
              <a:alpha val="10000"/>
            </a:srgbClr>
          </a:solidFill>
          <a:ln w="12700">
            <a:solidFill>
              <a:srgbClr val="D97706">
                <a:alpha val="27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27632" y="437997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 ago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992624"/>
            <a:ext cx="5486400" cy="1325880"/>
          </a:xfrm>
          <a:prstGeom prst="rect">
            <a:avLst/>
          </a:prstGeom>
          <a:solidFill>
            <a:srgbClr val="FFFFFF"/>
          </a:solidFill>
          <a:ln w="381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" y="5340096"/>
            <a:ext cx="475488" cy="475488"/>
          </a:xfrm>
          <a:prstGeom prst="ellipse">
            <a:avLst/>
          </a:prstGeom>
          <a:solidFill>
            <a:srgbClr val="2563EB">
              <a:alpha val="13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5340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" y="5138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not loading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9264" y="54864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mike@gamma.co — click to open full thread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69264" y="5797296"/>
            <a:ext cx="594360" cy="182880"/>
          </a:xfrm>
          <a:prstGeom prst="rect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27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264" y="579729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627632" y="5797296"/>
            <a:ext cx="594360" cy="182880"/>
          </a:xfrm>
          <a:prstGeom prst="rect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27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27632" y="579729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029200" y="513892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ago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89320" y="166420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Email → ticket automatically (any IMAP/Gmail)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989320" y="2194560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235915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sentiment detection auto-escalates angry customers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2889504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89320" y="3054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Smart spam filter blocks bounces &amp; auto-notifications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84448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89320" y="37490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Reply from platform → email sent back to customer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989320" y="4279392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89320" y="444398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 'Raise as Issue' links ticket to tech team issue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989320" y="4974336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89320" y="51389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CSAT survey auto-sent after ticket resolved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989320" y="5669280"/>
            <a:ext cx="5852160" cy="0"/>
          </a:xfrm>
          <a:prstGeom prst="line">
            <a:avLst/>
          </a:prstGeom>
          <a:noFill/>
          <a:ln w="381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89320" y="58338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Zero-touch auto-resolve for repetitive patterns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Owner Portal — Run Your SaaS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every brand from one Owner Dashboard. No one else has this level of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2788920" cy="49834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508760"/>
            <a:ext cx="2788920" cy="475488"/>
          </a:xfrm>
          <a:prstGeom prst="rect">
            <a:avLst/>
          </a:prstGeom>
          <a:solidFill>
            <a:srgbClr val="13141D"/>
          </a:solidFill>
          <a:ln w="12700">
            <a:solidFill>
              <a:srgbClr val="1F21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581912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Revenue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2130552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dashboard + 6-month trend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2962656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risk score per brand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3794760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analysis &amp; retention rates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4626864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generator (print PDF)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5458968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tracker &amp; MRR total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508760"/>
            <a:ext cx="2788920" cy="49834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508760"/>
            <a:ext cx="2788920" cy="475488"/>
          </a:xfrm>
          <a:prstGeom prst="rect">
            <a:avLst/>
          </a:prstGeom>
          <a:solidFill>
            <a:srgbClr val="13141D"/>
          </a:solidFill>
          <a:ln w="12700">
            <a:solidFill>
              <a:srgbClr val="1F21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5848" y="1581912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Operations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55848" y="2130552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size monitor per brand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355848" y="2962656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 mode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55848" y="3794760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sessions monitor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55848" y="4626864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Cross-brand activity feed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55848" y="5458968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config push to all brands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17920" y="1508760"/>
            <a:ext cx="2788920" cy="49834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1508760"/>
            <a:ext cx="2788920" cy="475488"/>
          </a:xfrm>
          <a:prstGeom prst="rect">
            <a:avLst/>
          </a:prstGeom>
          <a:solidFill>
            <a:srgbClr val="13141D"/>
          </a:solidFill>
          <a:ln w="12700">
            <a:solidFill>
              <a:srgbClr val="1F21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1581912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Intelligence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27648" y="2130552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health scores (A–F grade)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27648" y="2962656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completion tracker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27648" y="3794760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usage heatmap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327648" y="4626864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 league table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27648" y="5458968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upgrade recommendations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189720" y="1508760"/>
            <a:ext cx="2788920" cy="49834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9720" y="1508760"/>
            <a:ext cx="2788920" cy="475488"/>
          </a:xfrm>
          <a:prstGeom prst="rect">
            <a:avLst/>
          </a:prstGeom>
          <a:solidFill>
            <a:srgbClr val="13141D"/>
          </a:solidFill>
          <a:ln w="12700">
            <a:solidFill>
              <a:srgbClr val="1F21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99448" y="1581912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Growth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99448" y="2130552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 + follow-up dates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299448" y="2962656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announcement to all admins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299448" y="3794760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Cross-brand search (all data)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99448" y="4626864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comparison report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299448" y="5458968"/>
            <a:ext cx="2578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support inbox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Features. Day One. No Setup.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100584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ships out of the box. No plugins. No configuration marathon.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32688" y="17190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Tracking + SLA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4048" y="21671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lifecycle with configurable SLA timers per priority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46120" y="1572768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904488" y="17190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55848" y="21671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with SLA badges and age indicators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572768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27648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76288" y="17190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27648" y="21671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Burndown charts, velocity tracking, story points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89720" y="1572768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99448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848088" y="17190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(Gemini)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299448" y="21671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priority, module, impact suggestions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2688" y="298094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Suite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84048" y="342900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MTTR, SLA compliance, module health, workload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2834640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55848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📬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904488" y="298094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Ticketing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55848" y="342900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Freshdesk-style inbox with conversation threads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17920" y="2834640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327648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🔬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876288" y="298094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AI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27648" y="342900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similar issues by root cause automatically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89720" y="2834640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99448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848088" y="298094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299448" y="342900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issues with ₹ at risk — dashboard shows exposure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96512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932688" y="424281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84048" y="46908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Per-email health score from ticket patterns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46120" y="4096512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355848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3904488" y="424281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(4 types)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355848" y="46908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issues, All issues, User performance, Email stats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17920" y="4096512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327648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6876288" y="424281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327648" y="46908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Enable/disable any feature per brand per tier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189720" y="4096512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299448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9848088" y="424281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9299448" y="46908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Jira, ServiceNow, GitHub, custom REST API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5358384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84048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932688" y="5504688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Status Page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384048" y="595274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/status shows live health to customers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46120" y="5358384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55848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3904488" y="5504688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Security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3355848" y="595274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bcrypt, rate limiting, session expiry, audit trail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217920" y="5358384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6327648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6876288" y="5504688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Reports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6327648" y="595274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incident reports one click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189720" y="5358384"/>
            <a:ext cx="2788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9299448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9848088" y="5504688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+ On-Call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9299448" y="595274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users into teams, define on-call rotations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Every Team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developers. Every person who touches a customer problem.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63040"/>
            <a:ext cx="2240280" cy="5029200"/>
          </a:xfrm>
          <a:prstGeom prst="rect">
            <a:avLst/>
          </a:prstGeom>
          <a:solidFill>
            <a:srgbClr val="1A1B27"/>
          </a:solidFill>
          <a:ln w="63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63040"/>
            <a:ext cx="224028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159105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24028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own issues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306324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+ Sprint workflow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388620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smart triage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470916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timers + breach alerts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" y="553212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linking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33472" y="1463040"/>
            <a:ext cx="2240280" cy="5029200"/>
          </a:xfrm>
          <a:prstGeom prst="rect">
            <a:avLst/>
          </a:prstGeom>
          <a:solidFill>
            <a:srgbClr val="1A1B27"/>
          </a:solidFill>
          <a:ln w="63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33472" y="1463040"/>
            <a:ext cx="22402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00400" y="159105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/ 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224028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bugs from clients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306324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ticket inbox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0" y="388620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resolution status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0" y="470916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surveys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0" y="553212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92624" y="1463040"/>
            <a:ext cx="2240280" cy="5029200"/>
          </a:xfrm>
          <a:prstGeom prst="rect">
            <a:avLst/>
          </a:prstGeom>
          <a:solidFill>
            <a:srgbClr val="1A1B27"/>
          </a:solidFill>
          <a:ln w="635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92624" y="1463040"/>
            <a:ext cx="2240280" cy="594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59552" y="159105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02352" y="224028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test-fail issues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306324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workflow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102352" y="388620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fields for test 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02352" y="470916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dependencies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102352" y="553212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health scores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51776" y="1463040"/>
            <a:ext cx="2240280" cy="5029200"/>
          </a:xfrm>
          <a:prstGeom prst="rect">
            <a:avLst/>
          </a:prstGeom>
          <a:solidFill>
            <a:srgbClr val="1A1B27"/>
          </a:solidFill>
          <a:ln w="63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351776" y="1463040"/>
            <a:ext cx="2240280" cy="594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43216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918704" y="159105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461504" y="224028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deal-blocking bugs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61504" y="306324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escalation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461504" y="388620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 tagging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461504" y="470916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page to share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461504" y="553212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 visibility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10928" y="1463040"/>
            <a:ext cx="2240280" cy="5029200"/>
          </a:xfrm>
          <a:prstGeom prst="rect">
            <a:avLst/>
          </a:prstGeom>
          <a:solidFill>
            <a:srgbClr val="1A1B27"/>
          </a:solidFill>
          <a:ln w="6350">
            <a:solidFill>
              <a:srgbClr val="F472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710928" y="1463040"/>
            <a:ext cx="2240280" cy="59436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0236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0277856" y="159105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820656" y="224028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request tracking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820656" y="306324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 + velocity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820656" y="388620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(AI-gen)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820656" y="470916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reports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820656" y="5532120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Your Entire Stack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issues to Jira, sync with GitHub, trigger Slack alerts, let AI triage — all automatic.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60020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🔷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18196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51560" y="2194560"/>
            <a:ext cx="859536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194560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2-way sync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84048" y="255117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 Jira issues on new ticket. 2-way sync via Atlassian API.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160020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55848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🐙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023360" y="18196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23360" y="2194560"/>
            <a:ext cx="1130198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0" y="2194560"/>
            <a:ext cx="11301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linking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355848" y="255117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tickets as GitHub issues. Link commits to issues.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27648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995160" y="18196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95160" y="2194560"/>
            <a:ext cx="453542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2194560"/>
            <a:ext cx="453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27648" y="255117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 incidents in ServiceNow with urgency mapping.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89720" y="160020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299448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966960" y="18196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966960" y="2194560"/>
            <a:ext cx="791870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2194560"/>
            <a:ext cx="7918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299448" y="255117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webhook alerts for critical issues and SLA breaches.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402336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" y="4224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📧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051560" y="424281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/ SMTP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51560" y="4617720"/>
            <a:ext cx="1062533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4617720"/>
            <a:ext cx="1062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84048" y="497433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HTML email notifications via Nodemailer.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46120" y="402336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355848" y="4224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4023360" y="424281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023360" y="4617720"/>
            <a:ext cx="318211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23360" y="4617720"/>
            <a:ext cx="31821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355848" y="497433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triage, comment summaries, daily standup digests.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17920" y="402336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327648" y="4224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995160" y="424281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REST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995160" y="4617720"/>
            <a:ext cx="859536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95160" y="4617720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27648" y="497433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any internal API with configurable endpoint + auth.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189720" y="4023360"/>
            <a:ext cx="2788920" cy="22128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99448" y="4224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9966960" y="424281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Webhooks/Zapier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966960" y="4617720"/>
            <a:ext cx="859536" cy="2011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66960" y="4617720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9299448" y="4974336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n8n, Zapier, or any automation on issue events.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isolated, encrypted, and protected at every layer.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50876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24128" y="16916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24128" y="2075688"/>
            <a:ext cx="859536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7568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84048" y="242316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passwords hashed with bcrypt (cost 10). Zero plain-text credentials ever stored.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24528" y="150876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24528" y="150876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342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74336" y="16916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974336" y="2075688"/>
            <a:ext cx="453542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4336" y="2075688"/>
            <a:ext cx="453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34256" y="242316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login attempts per IP per 15 minutes. Brute-force attacks blocked at the API.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74736" y="150876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74736" y="150876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4464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924544" y="16916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Expiry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924544" y="2075688"/>
            <a:ext cx="724205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24544" y="2075688"/>
            <a:ext cx="7242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84464" y="242316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expire in 8h (30d with Remember Me). Force-logout any session from Owner Portal.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384048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384048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4048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24128" y="402336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1024128" y="4407408"/>
            <a:ext cx="994867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4128" y="4407408"/>
            <a:ext cx="9948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4048" y="475488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brand's data in a separate JSON file. Cross-brand access is architecturally impossible.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24528" y="384048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24528" y="384048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4256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📜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4974336" y="402336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974336" y="4407408"/>
            <a:ext cx="859536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440740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334256" y="475488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 with user, timestamp, issue ID. Full activity history for compliance.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74736" y="3840480"/>
            <a:ext cx="3767328" cy="210312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174736" y="3840480"/>
            <a:ext cx="3767328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84464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🛠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8924544" y="402336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Mode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8924544" y="4407408"/>
            <a:ext cx="859536" cy="201168"/>
          </a:xfrm>
          <a:prstGeom prst="rect">
            <a:avLst/>
          </a:prstGeom>
          <a:solidFill>
            <a:srgbClr val="16A34A">
              <a:alpha val="10000"/>
            </a:srgbClr>
          </a:solidFill>
          <a:ln w="12700">
            <a:solidFill>
              <a:srgbClr val="16A34A">
                <a:alpha val="27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24544" y="440740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84464" y="4754880"/>
            <a:ext cx="3547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can put the platform in maintenance mode instantly. Custom message shown to all users.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91440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free. Scale when you need to. Each brand billed separately.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44752"/>
            <a:ext cx="3611880" cy="52120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44752"/>
            <a:ext cx="3611880" cy="502920"/>
          </a:xfrm>
          <a:prstGeom prst="rect">
            <a:avLst/>
          </a:prstGeom>
          <a:solidFill>
            <a:srgbClr val="5C6BC0">
              <a:alpha val="13000"/>
            </a:srgbClr>
          </a:solidFill>
          <a:ln w="12700">
            <a:solidFill>
              <a:srgbClr val="5C6BC0">
                <a:alpha val="27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179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" y="27706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forever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3108960"/>
            <a:ext cx="3337560" cy="0"/>
          </a:xfrm>
          <a:prstGeom prst="line">
            <a:avLst/>
          </a:prstGeom>
          <a:noFill/>
          <a:ln w="6350">
            <a:solidFill>
              <a:srgbClr val="1F21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2278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tracking + SLA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35021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7764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search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40507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issues + watchers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4360" y="432511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45994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status page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94360" y="48737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 users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6217920"/>
            <a:ext cx="3337560" cy="3657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6217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Free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1444752"/>
            <a:ext cx="3611880" cy="5212080"/>
          </a:xfrm>
          <a:prstGeom prst="rect">
            <a:avLst/>
          </a:prstGeom>
          <a:solidFill>
            <a:srgbClr val="1A1B27"/>
          </a:solidFill>
          <a:ln w="63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76672" y="1426464"/>
            <a:ext cx="137160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76672" y="14264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279392" y="1444752"/>
            <a:ext cx="3611880" cy="502920"/>
          </a:xfrm>
          <a:prstGeom prst="rect">
            <a:avLst/>
          </a:prstGeom>
          <a:solidFill>
            <a:srgbClr val="F5A623">
              <a:alpha val="13000"/>
            </a:srgbClr>
          </a:solidFill>
          <a:ln w="12700">
            <a:solidFill>
              <a:srgbClr val="F5A623">
                <a:alpha val="27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16552" y="15179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16552" y="210312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416552" y="27706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per brand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16552" y="3108960"/>
            <a:ext cx="3337560" cy="0"/>
          </a:xfrm>
          <a:prstGeom prst="line">
            <a:avLst/>
          </a:prstGeom>
          <a:noFill/>
          <a:ln w="6350">
            <a:solidFill>
              <a:srgbClr val="1F21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16552" y="32278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Free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16552" y="35021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+ Sprints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16552" y="37764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triage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416552" y="40507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Workload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16552" y="432511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actions + Tags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16552" y="45994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fields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16552" y="48737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schedules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16552" y="51480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surveys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416552" y="54223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Zero-touch auto-resolve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416552" y="569671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 users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416552" y="6217920"/>
            <a:ext cx="33375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6552" y="6217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Pro Trial →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01584" y="1444752"/>
            <a:ext cx="3611880" cy="521208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101584" y="1444752"/>
            <a:ext cx="3611880" cy="502920"/>
          </a:xfrm>
          <a:prstGeom prst="rect">
            <a:avLst/>
          </a:prstGeom>
          <a:solidFill>
            <a:srgbClr val="7C3AED">
              <a:alpha val="13000"/>
            </a:srgbClr>
          </a:solidFill>
          <a:ln w="12700">
            <a:solidFill>
              <a:srgbClr val="7C3AED">
                <a:alpha val="27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38744" y="15179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238744" y="210312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₹2,499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8238744" y="27706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per brand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38744" y="3108960"/>
            <a:ext cx="3337560" cy="0"/>
          </a:xfrm>
          <a:prstGeom prst="line">
            <a:avLst/>
          </a:prstGeom>
          <a:noFill/>
          <a:ln w="6350">
            <a:solidFill>
              <a:srgbClr val="1F21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38744" y="32278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238744" y="35021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/ ServiceNow / GitHub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238744" y="37764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triage automation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238744" y="40507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 dashboard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38744" y="432511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 scores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238744" y="45994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clustering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238744" y="487375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238744" y="51480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users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238744" y="6217920"/>
            <a:ext cx="33375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38744" y="6217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Sales →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Resolvo?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platform that combines engineering issue tracking + AI intelligence + email ticketing + owner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3200400" cy="42062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5727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20440" y="1572768"/>
            <a:ext cx="1417320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57276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983480" y="1572768"/>
            <a:ext cx="1325880" cy="42062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57276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1417320" cy="42062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57276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818120" y="1572768"/>
            <a:ext cx="1234440" cy="42062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157276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98280" y="1572768"/>
            <a:ext cx="1508760" cy="42062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57276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029968"/>
            <a:ext cx="32004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0896" y="2029968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white-label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20440" y="2029968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57016" y="2029968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83480" y="2029968"/>
            <a:ext cx="13258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0056" y="2029968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55080" y="2029968"/>
            <a:ext cx="14173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91656" y="2029968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18120" y="2029968"/>
            <a:ext cx="12344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54696" y="2029968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098280" y="2029968"/>
            <a:ext cx="15087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34856" y="2029968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2468880"/>
            <a:ext cx="320040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" y="2468880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ticketing built-in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20440" y="2468880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2468880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83480" y="2468880"/>
            <a:ext cx="132588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2468880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55080" y="2468880"/>
            <a:ext cx="141732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91656" y="2468880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18120" y="2468880"/>
            <a:ext cx="123444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54696" y="2468880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098280" y="2468880"/>
            <a:ext cx="150876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34856" y="2468880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2907792"/>
            <a:ext cx="32004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0896" y="2907792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root cause clustering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20440" y="2907792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57016" y="2907792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983480" y="2907792"/>
            <a:ext cx="13258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0056" y="2907792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355080" y="2907792"/>
            <a:ext cx="14173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56" y="2907792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818120" y="2907792"/>
            <a:ext cx="12344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54696" y="2907792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098280" y="2907792"/>
            <a:ext cx="15087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34856" y="2907792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74320" y="3346704"/>
            <a:ext cx="320040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0896" y="3346704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impact tracking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520440" y="3346704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57016" y="3346704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983480" y="3346704"/>
            <a:ext cx="132588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0056" y="3346704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355080" y="3346704"/>
            <a:ext cx="141732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91656" y="3346704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818120" y="3346704"/>
            <a:ext cx="123444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54696" y="3346704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098280" y="3346704"/>
            <a:ext cx="150876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34856" y="3346704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274320" y="3785616"/>
            <a:ext cx="32004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" y="3785616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health scores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520440" y="3785616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57016" y="3785616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983480" y="3785616"/>
            <a:ext cx="13258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20056" y="3785616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355080" y="3785616"/>
            <a:ext cx="14173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91656" y="3785616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7818120" y="3785616"/>
            <a:ext cx="12344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854696" y="3785616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9098280" y="3785616"/>
            <a:ext cx="15087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134856" y="3785616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74320" y="4224528"/>
            <a:ext cx="320040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10896" y="4224528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MRR + churn dashboard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520440" y="4224528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57016" y="4224528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4983480" y="4224528"/>
            <a:ext cx="132588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20056" y="4224528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6355080" y="4224528"/>
            <a:ext cx="141732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391656" y="4224528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7818120" y="4224528"/>
            <a:ext cx="123444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854696" y="4224528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9098280" y="4224528"/>
            <a:ext cx="150876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134856" y="4224528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274320" y="4663440"/>
            <a:ext cx="32004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10896" y="4663440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surveys built-in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3520440" y="4663440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57016" y="4663440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4983480" y="4663440"/>
            <a:ext cx="13258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020056" y="4663440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6355080" y="4663440"/>
            <a:ext cx="14173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391656" y="4663440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7818120" y="4663440"/>
            <a:ext cx="12344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54696" y="4663440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9098280" y="4663440"/>
            <a:ext cx="15087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134856" y="4663440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274320" y="5102352"/>
            <a:ext cx="320040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10896" y="5102352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SLA breach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3520440" y="5102352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57016" y="5102352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4983480" y="5102352"/>
            <a:ext cx="132588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020056" y="5102352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355080" y="5102352"/>
            <a:ext cx="141732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91656" y="5102352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7818120" y="5102352"/>
            <a:ext cx="123444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854696" y="5102352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9098280" y="5102352"/>
            <a:ext cx="150876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134856" y="5102352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274320" y="5541264"/>
            <a:ext cx="32004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10896" y="5541264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detector (AI)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520440" y="5541264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557016" y="5541264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4983480" y="5541264"/>
            <a:ext cx="13258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020056" y="5541264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6355080" y="5541264"/>
            <a:ext cx="14173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391656" y="5541264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7818120" y="5541264"/>
            <a:ext cx="123444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854696" y="5541264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9098280" y="5541264"/>
            <a:ext cx="15087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134856" y="5541264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274320" y="5980176"/>
            <a:ext cx="320040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10896" y="5980176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price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3520440" y="5980176"/>
            <a:ext cx="1417320" cy="411480"/>
          </a:xfrm>
          <a:prstGeom prst="rect">
            <a:avLst/>
          </a:prstGeom>
          <a:solidFill>
            <a:srgbClr val="FFF7E6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557016" y="5980176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4983480" y="5980176"/>
            <a:ext cx="132588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20056" y="5980176"/>
            <a:ext cx="1252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$7.75/user</a:t>
            </a:r>
            <a:endParaRPr lang="en-US" sz="1050" dirty="0"/>
          </a:p>
        </p:txBody>
      </p:sp>
      <p:sp>
        <p:nvSpPr>
          <p:cNvPr id="131" name="Shape 129"/>
          <p:cNvSpPr/>
          <p:nvPr/>
        </p:nvSpPr>
        <p:spPr>
          <a:xfrm>
            <a:off x="6355080" y="5980176"/>
            <a:ext cx="141732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391656" y="5980176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$15/user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7818120" y="5980176"/>
            <a:ext cx="123444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854696" y="5980176"/>
            <a:ext cx="116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$8/user</a:t>
            </a:r>
            <a:endParaRPr lang="en-US" sz="1050" dirty="0"/>
          </a:p>
        </p:txBody>
      </p:sp>
      <p:sp>
        <p:nvSpPr>
          <p:cNvPr id="135" name="Shape 133"/>
          <p:cNvSpPr/>
          <p:nvPr/>
        </p:nvSpPr>
        <p:spPr>
          <a:xfrm>
            <a:off x="9098280" y="5980176"/>
            <a:ext cx="1508760" cy="411480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9134856" y="5980176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37" name="Text 135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20040" y="91440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teams achieve after switching to Resolvo: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17320"/>
            <a:ext cx="379476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527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84048" y="2386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788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42% before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417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1960" y="1417320"/>
            <a:ext cx="379476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1527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361688" y="2386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Resolution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61688" y="2788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dropped 18h → 5.8h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0" y="3703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3703320"/>
            <a:ext cx="379476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3813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39328" y="4672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9328" y="5074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3703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703320"/>
            <a:ext cx="379476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3813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384048" y="4672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escalations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" y="5074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detects angry customers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51960" y="5989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51960" y="5989320"/>
            <a:ext cx="379476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51960" y="6099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4361688" y="6958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tools needed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361688" y="7360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tracker + helpdesk in one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0" y="5989320"/>
            <a:ext cx="3794760" cy="2057400"/>
          </a:xfrm>
          <a:prstGeom prst="rect">
            <a:avLst/>
          </a:prstGeom>
          <a:solidFill>
            <a:srgbClr val="1A1B27"/>
          </a:solidFill>
          <a:ln w="6350">
            <a:solidFill>
              <a:srgbClr val="1F21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9600" y="5989320"/>
            <a:ext cx="379476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60990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4400" dirty="0"/>
          </a:p>
        </p:txBody>
      </p:sp>
      <p:sp>
        <p:nvSpPr>
          <p:cNvPr id="33" name="Text 31"/>
          <p:cNvSpPr/>
          <p:nvPr/>
        </p:nvSpPr>
        <p:spPr>
          <a:xfrm>
            <a:off x="8339328" y="6958584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39328" y="7360920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DB config needed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612880" y="6446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F5A623">
              <a:alpha val="7000"/>
            </a:srgbClr>
          </a:solidFill>
          <a:ln w="12700">
            <a:solidFill>
              <a:srgbClr val="F5A623">
                <a:alpha val="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2743200"/>
            <a:ext cx="5486400" cy="5486400"/>
          </a:xfrm>
          <a:prstGeom prst="ellipse">
            <a:avLst/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9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49240" y="5029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097280" y="20116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Transform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Your Team Tracks Issues?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828800" y="37490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engineering teams who've moved from chaos to clarity with Resolvo.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08960" y="4434840"/>
            <a:ext cx="265176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0" y="44348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Free 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4434840"/>
            <a:ext cx="2651760" cy="658368"/>
          </a:xfrm>
          <a:prstGeom prst="rect">
            <a:avLst/>
          </a:prstGeom>
          <a:solidFill>
            <a:srgbClr val="1A1B27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44348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3949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asifshaikh19978@gmail.com   ·   📱 +91 82860 63819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6263640"/>
            <a:ext cx="12161520" cy="594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263640"/>
            <a:ext cx="1216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 Resolvo  |  Issue Tracking · AI Intelligence · Email Ticketing · Owner Portal  |  Free · Pro · Enterprise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Resolvo — Product Deck</dc:title>
  <dc:subject>PptxGenJS Presentation</dc:subject>
  <dc:creator>Asif</dc:creator>
  <cp:lastModifiedBy>Asif</cp:lastModifiedBy>
  <cp:revision>1</cp:revision>
  <dcterms:created xsi:type="dcterms:W3CDTF">2026-06-04T13:26:57Z</dcterms:created>
  <dcterms:modified xsi:type="dcterms:W3CDTF">2026-06-04T13:26:57Z</dcterms:modified>
</cp:coreProperties>
</file>